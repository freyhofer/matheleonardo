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6946cfc5af457d" /><Relationship Type="http://schemas.openxmlformats.org/officeDocument/2006/relationships/extended-properties" Target="/docProps/app.xml" Id="Rf6dd07a08ac14ea9" /><Relationship Type="http://schemas.openxmlformats.org/officeDocument/2006/relationships/officeDocument" Target="/ppt/presentation.xml" Id="R743e0da72be840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53740967d140ea"/>
  </p:sldMasterIdLst>
  <p:notesMasterIdLst>
    <p:notesMasterId xmlns:r="http://schemas.openxmlformats.org/officeDocument/2006/relationships" r:id="R0e233a08a26f4544"/>
  </p:notesMasterIdLst>
  <p:sldIdLst>
    <p:sldId xmlns:r="http://schemas.openxmlformats.org/officeDocument/2006/relationships" id="256" r:id="R0ae9bb97382b414e"/>
    <p:sldId xmlns:r="http://schemas.openxmlformats.org/officeDocument/2006/relationships" id="257" r:id="R4c365af02d254ed5"/>
    <p:sldId xmlns:r="http://schemas.openxmlformats.org/officeDocument/2006/relationships" id="258" r:id="R856b40e71f544b51"/>
    <p:sldId xmlns:r="http://schemas.openxmlformats.org/officeDocument/2006/relationships" id="259" r:id="Rb0c7f29f214b4701"/>
    <p:sldId xmlns:r="http://schemas.openxmlformats.org/officeDocument/2006/relationships" id="260" r:id="R319e9fa058ad4c33"/>
    <p:sldId xmlns:r="http://schemas.openxmlformats.org/officeDocument/2006/relationships" id="261" r:id="R727f9b0fa5944c1e"/>
    <p:sldId xmlns:r="http://schemas.openxmlformats.org/officeDocument/2006/relationships" id="262" r:id="R56927554c3ac40a6"/>
    <p:sldId xmlns:r="http://schemas.openxmlformats.org/officeDocument/2006/relationships" id="263" r:id="R3edf3b754e0142b6"/>
    <p:sldId xmlns:r="http://schemas.openxmlformats.org/officeDocument/2006/relationships" id="264" r:id="Re54a6dc610e74eb8"/>
    <p:sldId xmlns:r="http://schemas.openxmlformats.org/officeDocument/2006/relationships" id="265" r:id="Rbf91610f17ae4aa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3257c6ee6a4006" /><Relationship Type="http://schemas.openxmlformats.org/officeDocument/2006/relationships/slideMaster" Target="/ppt/slideMasters/slideMaster1.xml" Id="Rd753740967d140ea" /><Relationship Type="http://schemas.openxmlformats.org/officeDocument/2006/relationships/notesMaster" Target="/ppt/notesMasters/notesMaster1.xml" Id="R0e233a08a26f4544" /><Relationship Type="http://schemas.openxmlformats.org/officeDocument/2006/relationships/presProps" Target="/ppt/presProps.xml" Id="R2392d22a2e2c4764" /><Relationship Type="http://schemas.openxmlformats.org/officeDocument/2006/relationships/tableStyles" Target="/ppt/tableStyles.xml" Id="R95bba6e7f75b46a6" /><Relationship Type="http://schemas.openxmlformats.org/officeDocument/2006/relationships/slide" Target="/ppt/slides/slide1.xml" Id="R0ae9bb97382b414e" /><Relationship Type="http://schemas.openxmlformats.org/officeDocument/2006/relationships/slide" Target="/ppt/slides/slide2.xml" Id="R4c365af02d254ed5" /><Relationship Type="http://schemas.openxmlformats.org/officeDocument/2006/relationships/slide" Target="/ppt/slides/slide3.xml" Id="R856b40e71f544b51" /><Relationship Type="http://schemas.openxmlformats.org/officeDocument/2006/relationships/slide" Target="/ppt/slides/slide4.xml" Id="Rb0c7f29f214b4701" /><Relationship Type="http://schemas.openxmlformats.org/officeDocument/2006/relationships/slide" Target="/ppt/slides/slide5.xml" Id="R319e9fa058ad4c33" /><Relationship Type="http://schemas.openxmlformats.org/officeDocument/2006/relationships/slide" Target="/ppt/slides/slide6.xml" Id="R727f9b0fa5944c1e" /><Relationship Type="http://schemas.openxmlformats.org/officeDocument/2006/relationships/slide" Target="/ppt/slides/slide7.xml" Id="R56927554c3ac40a6" /><Relationship Type="http://schemas.openxmlformats.org/officeDocument/2006/relationships/slide" Target="/ppt/slides/slide8.xml" Id="R3edf3b754e0142b6" /><Relationship Type="http://schemas.openxmlformats.org/officeDocument/2006/relationships/slide" Target="/ppt/slides/slide9.xml" Id="Re54a6dc610e74eb8" /><Relationship Type="http://schemas.openxmlformats.org/officeDocument/2006/relationships/slide" Target="/ppt/slides/slide10.xml" Id="Rbf91610f17ae4a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6018a8357a42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d481ae203c41e5" /><Relationship Type="http://schemas.openxmlformats.org/officeDocument/2006/relationships/notesMaster" Target="/ppt/notesMasters/notesMaster1.xml" Id="Rebb7f4af625740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46c5bf20464d1a" /><Relationship Type="http://schemas.openxmlformats.org/officeDocument/2006/relationships/notesMaster" Target="/ppt/notesMasters/notesMaster1.xml" Id="R7eed939a668147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f927f70f174534" /><Relationship Type="http://schemas.openxmlformats.org/officeDocument/2006/relationships/notesMaster" Target="/ppt/notesMasters/notesMaster1.xml" Id="Rdd676d91085841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2f1e3f395c483a" /><Relationship Type="http://schemas.openxmlformats.org/officeDocument/2006/relationships/notesMaster" Target="/ppt/notesMasters/notesMaster1.xml" Id="Ra791abeaa58044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226fc960334096" /><Relationship Type="http://schemas.openxmlformats.org/officeDocument/2006/relationships/notesMaster" Target="/ppt/notesMasters/notesMaster1.xml" Id="R8fb064acb7fe46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39436033c74706" /><Relationship Type="http://schemas.openxmlformats.org/officeDocument/2006/relationships/notesMaster" Target="/ppt/notesMasters/notesMaster1.xml" Id="Red640125ced24c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79bad2971842a5" /><Relationship Type="http://schemas.openxmlformats.org/officeDocument/2006/relationships/notesMaster" Target="/ppt/notesMasters/notesMaster1.xml" Id="Rad073e918d4645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f640ebb9354633" /><Relationship Type="http://schemas.openxmlformats.org/officeDocument/2006/relationships/notesMaster" Target="/ppt/notesMasters/notesMaster1.xml" Id="Rca48072d5aef4e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fcad8ff1ce4e8c" /><Relationship Type="http://schemas.openxmlformats.org/officeDocument/2006/relationships/notesMaster" Target="/ppt/notesMasters/notesMaster1.xml" Id="Rd9f8e45c673e4b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a6b073de7d4af3" /><Relationship Type="http://schemas.openxmlformats.org/officeDocument/2006/relationships/notesMaster" Target="/ppt/notesMasters/notesMaster1.xml" Id="R51607e51877c4d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0df0cb0dc747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f14fd229604e7f" /><Relationship Type="http://schemas.openxmlformats.org/officeDocument/2006/relationships/slideLayout" Target="/ppt/slideLayouts/slideLayout1.xml" Id="Rbcf42362636145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f42362636145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eea379a9f4d70" /><Relationship Type="http://schemas.openxmlformats.org/officeDocument/2006/relationships/notesSlide" Target="/ppt/notesSlides/notesSlide1.xml" Id="Rb09f75a9ae5a45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4e7bc78bc4ebd" /><Relationship Type="http://schemas.openxmlformats.org/officeDocument/2006/relationships/notesSlide" Target="/ppt/notesSlides/notesSlide2.xml" Id="Rb4485dfe63384b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4ed38845a49d4" /><Relationship Type="http://schemas.openxmlformats.org/officeDocument/2006/relationships/notesSlide" Target="/ppt/notesSlides/notesSlide3.xml" Id="R27aa05ca1d6d4c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1dce8dd97493c" /><Relationship Type="http://schemas.openxmlformats.org/officeDocument/2006/relationships/image" Target="/ppt/media/image.png" Id="R1b83270c5f144ccc" /><Relationship Type="http://schemas.openxmlformats.org/officeDocument/2006/relationships/notesSlide" Target="/ppt/notesSlides/notesSlide4.xml" Id="R8ed74d2c42594e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fc993255a49d6" /><Relationship Type="http://schemas.openxmlformats.org/officeDocument/2006/relationships/notesSlide" Target="/ppt/notesSlides/notesSlide5.xml" Id="Rf2b376cb0a944d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45b9865a8b481c" /><Relationship Type="http://schemas.openxmlformats.org/officeDocument/2006/relationships/image" Target="/ppt/media/image2.png" Id="R7e17ce6455424f88" /><Relationship Type="http://schemas.openxmlformats.org/officeDocument/2006/relationships/notesSlide" Target="/ppt/notesSlides/notesSlide6.xml" Id="R110c669540e54a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dc253cf294ac8" /><Relationship Type="http://schemas.openxmlformats.org/officeDocument/2006/relationships/image" Target="/ppt/media/image3.png" Id="R6b18995ea14d43a0" /><Relationship Type="http://schemas.openxmlformats.org/officeDocument/2006/relationships/notesSlide" Target="/ppt/notesSlides/notesSlide7.xml" Id="R130690da825f45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b2f863ddf467b" /><Relationship Type="http://schemas.openxmlformats.org/officeDocument/2006/relationships/image" Target="/ppt/media/image4.png" Id="Rfa3543b064b44533" /><Relationship Type="http://schemas.openxmlformats.org/officeDocument/2006/relationships/image" Target="/ppt/media/image5.png" Id="Rf347eeb3b7a64204" /><Relationship Type="http://schemas.openxmlformats.org/officeDocument/2006/relationships/notesSlide" Target="/ppt/notesSlides/notesSlide8.xml" Id="R53d0c9b4891944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16bb598864106" /><Relationship Type="http://schemas.openxmlformats.org/officeDocument/2006/relationships/image" Target="/ppt/media/image6.png" Id="R9f15703fc6374a80" /><Relationship Type="http://schemas.openxmlformats.org/officeDocument/2006/relationships/image" Target="/ppt/media/image7.png" Id="R68b22ab773ae4758" /><Relationship Type="http://schemas.openxmlformats.org/officeDocument/2006/relationships/notesSlide" Target="/ppt/notesSlides/notesSlide9.xml" Id="R9981d5eb56b343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e1af6e5244bcf" /><Relationship Type="http://schemas.openxmlformats.org/officeDocument/2006/relationships/notesSlide" Target="/ppt/notesSlides/notesSlide10.xml" Id="R9b6a7a5aa92c47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B9B4ED-8CA8-42F2-A683-110734CF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4E64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04E64"/>
                </a:solidFill>
                <a:latin typeface="Aptos"/>
                <a:ea typeface="Aptos"/>
                <a:cs typeface="Aptos"/>
              </a:rPr>
              <a:t>Ballonfahrt-Modell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1F72A1-4415-4586-B47C-C05702F6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5556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5556C"/>
                </a:solidFill>
                <a:latin typeface="Aptos"/>
                <a:ea typeface="Aptos"/>
                <a:cs typeface="Aptos"/>
              </a:rPr>
              <a:t>Entwicklung einer realistischen Horizontalgeschwindigkeit mit einer Funktion dritten Grades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045BF-6F67-452D-982C-88DC0A60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8096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23E1B3-1125-4935-92BB-5C9499DD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9950"/>
            <a:ext cx="7639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4E6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4E64"/>
                </a:solidFill>
                <a:latin typeface="Aptos"/>
                <a:ea typeface="Aptos"/>
                <a:cs typeface="Aptos"/>
              </a:rPr>
              <a:t>v(t) ≈ 1,648 · t · (t - 3,4) · (t - 6,81579)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CDDDF-869F-49D7-A56E-AF70035F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7639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556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5556C"/>
                </a:solidFill>
                <a:latin typeface="Aptos"/>
                <a:ea typeface="Aptos"/>
                <a:cs typeface="Aptos"/>
              </a:rPr>
              <a:t>Finale Funktion für 0 ≤ t ≤ 7 Stunden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1960F-47A8-4834-8D57-4F2BEF79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2061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20618"/>
                </a:solidFill>
                <a:latin typeface="Aptos"/>
                <a:ea typeface="Aptos"/>
                <a:cs typeface="Aptos"/>
              </a:rPr>
              <a:t>Leitfrage: Wie entsteht ein Modell, das mathematisch nachvollziehbar und zugleich realistisch ist?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ED6407-8DAF-41D7-97F1-A459387C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48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2748E"/>
                </a:solidFill>
                <a:latin typeface="Aptos"/>
                <a:ea typeface="Aptos"/>
                <a:cs typeface="Aptos"/>
              </a:rPr>
              <a:t>Ballonfahrt-Modell · Leonardo Freyhofer · 1</a:t>
            </a:r>
          </a:p>
        </p:txBody>
      </p:sp>
    </p:spTree>
    <p:extLst>
      <p:ext uri="{BB962C8B-B14F-4D97-AF65-F5344CB8AC3E}">
        <p14:creationId xmlns:p14="http://schemas.microsoft.com/office/powerpoint/2010/main" val="4622253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262E7E-8E05-4755-84E9-97340CE4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5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7595"/>
                </a:solidFill>
                <a:latin typeface="Aptos"/>
                <a:ea typeface="Aptos"/>
                <a:cs typeface="Aptos"/>
              </a:rPr>
              <a:t>AUSGANGSPUNKT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5BBF7-5E59-4F71-BA49-0386B8AF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4E6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4E64"/>
                </a:solidFill>
                <a:latin typeface="Aptos"/>
                <a:ea typeface="Aptos"/>
                <a:cs typeface="Aptos"/>
              </a:rPr>
              <a:t>Aufgabe und Bedingungen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479058-E8BB-42F1-973C-FC97EF5C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478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59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59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3D1FA2-B925-4B8E-B786-8BB6F390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478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2061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20618"/>
                </a:solidFill>
                <a:latin typeface="Aptos"/>
                <a:ea typeface="Aptos"/>
                <a:cs typeface="Aptos"/>
              </a:rPr>
              <a:t>Fahrtzeit: 7 Stunden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87F0C-D2F5-44C7-B517-8CD2E596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59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59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4259D-94FB-4483-8597-2F62692B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2061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20618"/>
                </a:solidFill>
                <a:latin typeface="Aptos"/>
                <a:ea typeface="Aptos"/>
                <a:cs typeface="Aptos"/>
              </a:rPr>
              <a:t>Horizontalgeschwindigkeit soll durch eine kubische Funktion beschrieben werden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497A7-C673-4AC7-9D8F-20CEA22A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59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59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98A228-65CB-48E4-9E0E-B5018CD3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765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2061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20618"/>
                </a:solidFill>
                <a:latin typeface="Aptos"/>
                <a:ea typeface="Aptos"/>
                <a:cs typeface="Aptos"/>
              </a:rPr>
              <a:t>Die Fahrtrichtung soll sich zweimal umkehren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774D05-3D1E-4DCB-BB24-07A2BBC5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59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59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BC3461-3177-42A1-BE66-9F1828D9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908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2061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20618"/>
                </a:solidFill>
                <a:latin typeface="Aptos"/>
                <a:ea typeface="Aptos"/>
                <a:cs typeface="Aptos"/>
              </a:rPr>
              <a:t>Der Landepunkt soll horizontal exakt beim Startpunkt liegen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0C59F-E7CF-4376-87C9-33354BA0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59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59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4D80BE-A508-4A31-8A43-A859B0B4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05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2061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20618"/>
                </a:solidFill>
                <a:latin typeface="Aptos"/>
                <a:ea typeface="Aptos"/>
                <a:cs typeface="Aptos"/>
              </a:rPr>
              <a:t>Endgeschwindigkeit darf nicht 0 km/h sein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3747F4-528F-4583-8C58-25E7A19C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59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59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553C56-53F5-4D8B-BE4C-AFC50CA3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195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2061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20618"/>
                </a:solidFill>
                <a:latin typeface="Aptos"/>
                <a:ea typeface="Aptos"/>
                <a:cs typeface="Aptos"/>
              </a:rPr>
              <a:t>Zusätzlich: z-Achse und gleichseitige Landefläche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1EA87C-C244-435B-8F79-6DB1B776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48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2748E"/>
                </a:solidFill>
                <a:latin typeface="Aptos"/>
                <a:ea typeface="Aptos"/>
                <a:cs typeface="Aptos"/>
              </a:rPr>
              <a:t>Ballonfahrt-Modell · Leonardo Freyhofer · 2</a:t>
            </a:r>
          </a:p>
        </p:txBody>
      </p:sp>
    </p:spTree>
    <p:extLst>
      <p:ext uri="{BB962C8B-B14F-4D97-AF65-F5344CB8AC3E}">
        <p14:creationId xmlns:p14="http://schemas.microsoft.com/office/powerpoint/2010/main" val="18871250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B518B6-A3F3-4FE2-89B5-E40D0848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5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7595"/>
                </a:solidFill>
                <a:latin typeface="Aptos"/>
                <a:ea typeface="Aptos"/>
                <a:cs typeface="Aptos"/>
              </a:rPr>
              <a:t>MODELLIDEE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87769-83CD-42E9-94B5-92231EF7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4E6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4E64"/>
                </a:solidFill>
                <a:latin typeface="Aptos"/>
                <a:ea typeface="Aptos"/>
                <a:cs typeface="Aptos"/>
              </a:rPr>
              <a:t>Ansatz der Funktion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7EECF3-9F89-4B7B-8CCE-CA16AF3A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6762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298491-16A8-469A-8813-3CEB6B1F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5716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4E6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4E64"/>
                </a:solidFill>
                <a:latin typeface="Aptos"/>
                <a:ea typeface="Aptos"/>
                <a:cs typeface="Aptos"/>
              </a:rPr>
              <a:t>v(t) = k · t · (t - r) · (t - 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F839E-E1BC-4A74-AAFE-B55BADAF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85975"/>
            <a:ext cx="6305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556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5556C"/>
                </a:solidFill>
                <a:latin typeface="Aptos"/>
                <a:ea typeface="Aptos"/>
                <a:cs typeface="Aptos"/>
              </a:rPr>
              <a:t>Drei Faktoren liefern drei Nullstellen: Start und zwei Richtungswechsel.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FAAD1-5312-401D-A5B2-0D9C8E73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3048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DCA20-FF1A-4AA2-847C-806C2B3E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6385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4E6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4E64"/>
                </a:solidFill>
                <a:latin typeface="Aptos"/>
                <a:ea typeface="Aptos"/>
                <a:cs typeface="Aptos"/>
              </a:rPr>
              <a:t>t =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9673D-E6C6-4FFB-B3CE-E39E07EF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0576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5556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5556C"/>
                </a:solidFill>
                <a:latin typeface="Aptos"/>
                <a:ea typeface="Aptos"/>
                <a:cs typeface="Aptos"/>
              </a:rPr>
              <a:t>Start der Ballonfahrt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30B2EE-694F-465C-A0DA-69B9179A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3048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9D74E9-114F-49F0-850B-DD8DB04A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385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4E6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4E64"/>
                </a:solidFill>
                <a:latin typeface="Aptos"/>
                <a:ea typeface="Aptos"/>
                <a:cs typeface="Aptos"/>
              </a:rPr>
              <a:t>r und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332625-8C72-4C72-8FD9-32F06EFC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576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5556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5556C"/>
                </a:solidFill>
                <a:latin typeface="Aptos"/>
                <a:ea typeface="Aptos"/>
                <a:cs typeface="Aptos"/>
              </a:rPr>
              <a:t>Zeitpunkte der Richtungswechsel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328E2B-9AE3-483B-924B-0516842F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29000"/>
            <a:ext cx="3048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ED3695-E680-4925-B72D-CC2230BA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385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4E6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4E64"/>
                </a:solidFill>
                <a:latin typeface="Aptos"/>
                <a:ea typeface="Aptos"/>
                <a:cs typeface="Aptos"/>
              </a:rPr>
              <a:t>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6B6221-9299-4FA5-A26E-F937462B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0576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5556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5556C"/>
                </a:solidFill>
                <a:latin typeface="Aptos"/>
                <a:ea typeface="Aptos"/>
                <a:cs typeface="Aptos"/>
              </a:rPr>
              <a:t>Skalierung der Geschwindigkeit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1FD758-6372-4B82-ADCC-BBC3B3C5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48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2748E"/>
                </a:solidFill>
                <a:latin typeface="Aptos"/>
                <a:ea typeface="Aptos"/>
                <a:cs typeface="Aptos"/>
              </a:rPr>
              <a:t>Ballonfahrt-Modell · Leonardo Freyhofer · 3</a:t>
            </a:r>
          </a:p>
        </p:txBody>
      </p:sp>
    </p:spTree>
    <p:extLst>
      <p:ext uri="{BB962C8B-B14F-4D97-AF65-F5344CB8AC3E}">
        <p14:creationId xmlns:p14="http://schemas.microsoft.com/office/powerpoint/2010/main" val="13581103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823390-D5CB-4A06-9096-7718B92F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5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7595"/>
                </a:solidFill>
                <a:latin typeface="Aptos"/>
                <a:ea typeface="Aptos"/>
                <a:cs typeface="Aptos"/>
              </a:rPr>
              <a:t>MODELLENTSCHEIDUNG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169926-CB8A-40AA-A64C-DD9D42F7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4E6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4E64"/>
                </a:solidFill>
                <a:latin typeface="Aptos"/>
                <a:ea typeface="Aptos"/>
                <a:cs typeface="Aptos"/>
              </a:rPr>
              <a:t>Warum die glatte Variante nicht reicht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83270c5f144ccc"/>
          <a:stretch xmlns:a="http://schemas.openxmlformats.org/drawingml/2006/main"/>
        </p:blipFill>
        <p:spPr>
          <a:xfrm xmlns:a="http://schemas.openxmlformats.org/drawingml/2006/main">
            <a:off x="762000" y="1430400"/>
            <a:ext cx="7239000" cy="39591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E90FE0-4027-40DB-942D-290B6FA2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85900"/>
            <a:ext cx="2857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798CF-D940-4345-9F3D-A8F0D821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7526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4E6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4E64"/>
                </a:solidFill>
                <a:latin typeface="Aptos"/>
                <a:ea typeface="Aptos"/>
                <a:cs typeface="Aptos"/>
              </a:rPr>
              <a:t>r = 3 führt zu s = 6,3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B769A1-51D2-433C-905F-BBF0167E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8125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2061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20618"/>
                </a:solidFill>
                <a:latin typeface="Aptos"/>
                <a:ea typeface="Aptos"/>
                <a:cs typeface="Aptos"/>
              </a:rPr>
              <a:t>Das ist rechnerisch schön, aber nach Skalierung auf 25 km/h landet der Ballon mit ca. 44,3 km/h.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21E495-4FCD-4CF8-BB97-3131388F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766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1710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17100"/>
                </a:solidFill>
                <a:latin typeface="Aptos"/>
                <a:ea typeface="Aptos"/>
                <a:cs typeface="Aptos"/>
              </a:rPr>
              <a:t>→ zu schnell für eine realistische Landung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03261-93E3-42DE-90AE-8CA8DB84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48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2748E"/>
                </a:solidFill>
                <a:latin typeface="Aptos"/>
                <a:ea typeface="Aptos"/>
                <a:cs typeface="Aptos"/>
              </a:rPr>
              <a:t>Ballonfahrt-Modell · Leonardo Freyhofer · 4</a:t>
            </a:r>
          </a:p>
        </p:txBody>
      </p:sp>
    </p:spTree>
    <p:extLst>
      <p:ext uri="{BB962C8B-B14F-4D97-AF65-F5344CB8AC3E}">
        <p14:creationId xmlns:p14="http://schemas.microsoft.com/office/powerpoint/2010/main" val="904965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202147-3844-4E0E-BE3D-C4947038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5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7595"/>
                </a:solidFill>
                <a:latin typeface="Aptos"/>
                <a:ea typeface="Aptos"/>
                <a:cs typeface="Aptos"/>
              </a:rPr>
              <a:t>HERLEITUNG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257DAE-FDA0-4C04-A3CF-23D2A1F5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4E6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4E64"/>
                </a:solidFill>
                <a:latin typeface="Aptos"/>
                <a:ea typeface="Aptos"/>
                <a:cs typeface="Aptos"/>
              </a:rPr>
              <a:t>Finale Modellentscheidung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FE994B-AD38-441D-81D0-4D2B03C6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0B8E8-2937-4505-8217-F5313707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4305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4E6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4E64"/>
                </a:solidFill>
                <a:latin typeface="Aptos"/>
                <a:ea typeface="Aptos"/>
                <a:cs typeface="Aptos"/>
              </a:rPr>
              <a:t>r = 3,4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95ACB-D68F-4175-86C2-86CC0B05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57400"/>
            <a:ext cx="297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556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5556C"/>
                </a:solidFill>
                <a:latin typeface="Aptos"/>
                <a:ea typeface="Aptos"/>
                <a:cs typeface="Aptos"/>
              </a:rPr>
              <a:t>Der erste Richtungswechsel wird etwas später gewählt, damit die Landegeschwindigkeit sinkt.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EF504-BC74-4B87-8992-9A59EED7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3525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3D2B5-C34C-40D9-AD7B-AF64E823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4305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4E6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4E64"/>
                </a:solidFill>
                <a:latin typeface="Aptos"/>
                <a:ea typeface="Aptos"/>
                <a:cs typeface="Aptos"/>
              </a:rPr>
              <a:t>∫₀⁷ v(t) dt =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2465C7-E066-4F51-B2FC-0E6763D5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57400"/>
            <a:ext cx="297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556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5556C"/>
                </a:solidFill>
                <a:latin typeface="Aptos"/>
                <a:ea typeface="Aptos"/>
                <a:cs typeface="Aptos"/>
              </a:rPr>
              <a:t>Diese Bedingung erzwingt, dass der horizontale Endabstand 0 km ist.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7168B0-179F-4513-A657-432ABFE4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3525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7F0383-C219-414B-A7B5-8E85EB8E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4305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4E6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4E64"/>
                </a:solidFill>
                <a:latin typeface="Aptos"/>
                <a:ea typeface="Aptos"/>
                <a:cs typeface="Aptos"/>
              </a:rPr>
              <a:t>s ≈ 6,81579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5D056D-ED66-4C7D-AA58-044DB34F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57400"/>
            <a:ext cx="297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556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5556C"/>
                </a:solidFill>
                <a:latin typeface="Aptos"/>
                <a:ea typeface="Aptos"/>
                <a:cs typeface="Aptos"/>
              </a:rPr>
              <a:t>Der zweite Richtungswechsel wird daraus berechnet, nicht geraten.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E6EF52-C177-4169-B51D-BDEF2530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766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C503CF-5AD6-4EE4-96C0-D2B0975F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86715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4E6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4E64"/>
                </a:solidFill>
                <a:latin typeface="Aptos"/>
                <a:ea typeface="Aptos"/>
                <a:cs typeface="Aptos"/>
              </a:rPr>
              <a:t>k ≈ 1,648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F84340-7D6E-44C0-AEFC-36B68202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381500"/>
            <a:ext cx="297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556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5556C"/>
                </a:solidFill>
                <a:latin typeface="Aptos"/>
                <a:ea typeface="Aptos"/>
                <a:cs typeface="Aptos"/>
              </a:rPr>
              <a:t>Danach wird k so gewählt, dass der lokale Hochpunkt 25 km/h beträgt.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F1E3F8-ACAD-4A11-B3DB-2E6B4C93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766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C2C784-87A4-4B2D-81DD-6DF1E2F1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6715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4E6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4E64"/>
                </a:solidFill>
                <a:latin typeface="Aptos"/>
                <a:ea typeface="Aptos"/>
                <a:cs typeface="Aptos"/>
              </a:rPr>
              <a:t>v(7) ≈ 7,6 km/h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02A03E-B4BA-40AB-9D13-F5C965F2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81500"/>
            <a:ext cx="297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556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5556C"/>
                </a:solidFill>
                <a:latin typeface="Aptos"/>
                <a:ea typeface="Aptos"/>
                <a:cs typeface="Aptos"/>
              </a:rPr>
              <a:t>Die Landegeschwindigkeit bleibt deutlich unter der Höchstgeschwindigkeit.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29333F-F1C3-4C49-BEB1-B111B308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48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2748E"/>
                </a:solidFill>
                <a:latin typeface="Aptos"/>
                <a:ea typeface="Aptos"/>
                <a:cs typeface="Aptos"/>
              </a:rPr>
              <a:t>Ballonfahrt-Modell · Leonardo Freyhofer · 5</a:t>
            </a:r>
          </a:p>
        </p:txBody>
      </p:sp>
    </p:spTree>
    <p:extLst>
      <p:ext uri="{BB962C8B-B14F-4D97-AF65-F5344CB8AC3E}">
        <p14:creationId xmlns:p14="http://schemas.microsoft.com/office/powerpoint/2010/main" val="8904890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CE451C-26CA-4D22-B6BE-1FAB6559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5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7595"/>
                </a:solidFill>
                <a:latin typeface="Aptos"/>
                <a:ea typeface="Aptos"/>
                <a:cs typeface="Aptos"/>
              </a:rPr>
              <a:t>FINALE FUNKTION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6E649-2048-4A74-B921-AF05D8F4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4E6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4E64"/>
                </a:solidFill>
                <a:latin typeface="Aptos"/>
                <a:ea typeface="Aptos"/>
                <a:cs typeface="Aptos"/>
              </a:rPr>
              <a:t>Geschwindigkeitsgraph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17ce6455424f88"/>
          <a:stretch xmlns:a="http://schemas.openxmlformats.org/drawingml/2006/main"/>
        </p:blipFill>
        <p:spPr>
          <a:xfrm xmlns:a="http://schemas.openxmlformats.org/drawingml/2006/main">
            <a:off x="1016535" y="1162050"/>
            <a:ext cx="6872804" cy="4524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17619-0949-45DD-8083-A10FCC14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668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59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759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41A41-FD65-4EAE-94C6-181CE68E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668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2061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20618"/>
                </a:solidFill>
                <a:latin typeface="Aptos"/>
                <a:ea typeface="Aptos"/>
                <a:cs typeface="Aptos"/>
              </a:rPr>
              <a:t>Grün: Bewegung in positive Richtung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A356FC-F003-449C-9965-7DF44AAE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336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59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759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A892F-41DE-4770-8F12-3BD837BD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336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2061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20618"/>
                </a:solidFill>
                <a:latin typeface="Aptos"/>
                <a:ea typeface="Aptos"/>
                <a:cs typeface="Aptos"/>
              </a:rPr>
              <a:t>Rot: Bewegung in Gegenrichtung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26605C-2C85-4F55-B104-5D6079AF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003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59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759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437448-48CF-423A-AB0A-6250A595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003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2061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20618"/>
                </a:solidFill>
                <a:latin typeface="Aptos"/>
                <a:ea typeface="Aptos"/>
                <a:cs typeface="Aptos"/>
              </a:rPr>
              <a:t>Gleiche Flächenbilanz: horizontaler Endabstand 0 km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3E5599-D74A-455D-BBC4-8851BEB9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671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59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759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8E33A2-215A-4ABF-A6B2-6E208629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2061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20618"/>
                </a:solidFill>
                <a:latin typeface="Aptos"/>
                <a:ea typeface="Aptos"/>
                <a:cs typeface="Aptos"/>
              </a:rPr>
              <a:t>Endgeschwindigkeit: ca. 7,6 km/h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959A0F-94CF-44BD-A076-AF3A64A7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48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2748E"/>
                </a:solidFill>
                <a:latin typeface="Aptos"/>
                <a:ea typeface="Aptos"/>
                <a:cs typeface="Aptos"/>
              </a:rPr>
              <a:t>Ballonfahrt-Modell · Leonardo Freyhofer · 6</a:t>
            </a:r>
          </a:p>
        </p:txBody>
      </p:sp>
    </p:spTree>
    <p:extLst>
      <p:ext uri="{BB962C8B-B14F-4D97-AF65-F5344CB8AC3E}">
        <p14:creationId xmlns:p14="http://schemas.microsoft.com/office/powerpoint/2010/main" val="11368583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1AF955-1621-43BE-9D9B-1100C0DD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5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7595"/>
                </a:solidFill>
                <a:latin typeface="Aptos"/>
                <a:ea typeface="Aptos"/>
                <a:cs typeface="Aptos"/>
              </a:rPr>
              <a:t>AUSWERTUNG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5CC4B-32C0-4F9B-A943-3498DC68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4E6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4E64"/>
                </a:solidFill>
                <a:latin typeface="Aptos"/>
                <a:ea typeface="Aptos"/>
                <a:cs typeface="Aptos"/>
              </a:rPr>
              <a:t>Stammfunktion als Abstand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18995ea14d43a0"/>
          <a:stretch xmlns:a="http://schemas.openxmlformats.org/drawingml/2006/main"/>
        </p:blipFill>
        <p:spPr>
          <a:xfrm xmlns:a="http://schemas.openxmlformats.org/drawingml/2006/main">
            <a:off x="1185140" y="1200150"/>
            <a:ext cx="6783246" cy="45243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E259FD-27D0-4CBA-9AD8-EF3CD68D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14500"/>
            <a:ext cx="28575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EED44-55F6-4C2A-9E3D-BB61F310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0500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4E6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4E64"/>
                </a:solidFill>
                <a:latin typeface="Aptos"/>
                <a:ea typeface="Aptos"/>
                <a:cs typeface="Aptos"/>
              </a:rPr>
              <a:t>S(t) = ∫ v(t) dt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E4255-7790-4149-B42C-72CBD48C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19350"/>
            <a:ext cx="24003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556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5556C"/>
                </a:solidFill>
                <a:latin typeface="Aptos"/>
                <a:ea typeface="Aptos"/>
                <a:cs typeface="Aptos"/>
              </a:rPr>
              <a:t>Die Stammfunktion beschreibt den horizontalen Abstand vom Startpunkt. Weil S(7)=0 gilt, landet der Ballon horizontal wieder am Startpunkt.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8CAFD0-7C98-44E5-BEE3-557294A7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48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2748E"/>
                </a:solidFill>
                <a:latin typeface="Aptos"/>
                <a:ea typeface="Aptos"/>
                <a:cs typeface="Aptos"/>
              </a:rPr>
              <a:t>Ballonfahrt-Modell · Leonardo Freyhofer · 7</a:t>
            </a:r>
          </a:p>
        </p:txBody>
      </p:sp>
    </p:spTree>
    <p:extLst>
      <p:ext uri="{BB962C8B-B14F-4D97-AF65-F5344CB8AC3E}">
        <p14:creationId xmlns:p14="http://schemas.microsoft.com/office/powerpoint/2010/main" val="21005378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19ABBB-11CB-49B2-B9C8-B11BD415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5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7595"/>
                </a:solidFill>
                <a:latin typeface="Aptos"/>
                <a:ea typeface="Aptos"/>
                <a:cs typeface="Aptos"/>
              </a:rPr>
              <a:t>KONTROLLE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A4EC21-2F0B-4110-A525-956B80B4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4E6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4E64"/>
                </a:solidFill>
                <a:latin typeface="Aptos"/>
                <a:ea typeface="Aptos"/>
                <a:cs typeface="Aptos"/>
              </a:rPr>
              <a:t>Ableitungen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3543b064b44533"/>
          <a:stretch xmlns:a="http://schemas.openxmlformats.org/drawingml/2006/main"/>
        </p:blipFill>
        <p:spPr>
          <a:xfrm xmlns:a="http://schemas.openxmlformats.org/drawingml/2006/main">
            <a:off x="666750" y="1425469"/>
            <a:ext cx="5191125" cy="3464136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47eeb3b7a64204"/>
          <a:stretch xmlns:a="http://schemas.openxmlformats.org/drawingml/2006/main"/>
        </p:blipFill>
        <p:spPr>
          <a:xfrm xmlns:a="http://schemas.openxmlformats.org/drawingml/2006/main">
            <a:off x="6334125" y="1490707"/>
            <a:ext cx="5191125" cy="333366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C4A7E3-CD28-4402-8302-06759FCD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673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4E6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4E64"/>
                </a:solidFill>
                <a:latin typeface="Aptos"/>
                <a:ea typeface="Aptos"/>
                <a:cs typeface="Aptos"/>
              </a:rPr>
              <a:t>v'(t)=0 liefert Hoch- und Tiefpunkt. v''(t) zeigt den Wechsel der Krümmung.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2F7B8-1384-46D3-8FA3-EF3CC300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48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2748E"/>
                </a:solidFill>
                <a:latin typeface="Aptos"/>
                <a:ea typeface="Aptos"/>
                <a:cs typeface="Aptos"/>
              </a:rPr>
              <a:t>Ballonfahrt-Modell · Leonardo Freyhofer · 8</a:t>
            </a:r>
          </a:p>
        </p:txBody>
      </p:sp>
    </p:spTree>
    <p:extLst>
      <p:ext uri="{BB962C8B-B14F-4D97-AF65-F5344CB8AC3E}">
        <p14:creationId xmlns:p14="http://schemas.microsoft.com/office/powerpoint/2010/main" val="7242808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A4A6B8-1A55-4702-9BE2-24BEF53D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5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7595"/>
                </a:solidFill>
                <a:latin typeface="Aptos"/>
                <a:ea typeface="Aptos"/>
                <a:cs typeface="Aptos"/>
              </a:rPr>
              <a:t>RAUMMODELL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4FD30-27FA-4460-A887-0A70ADD9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4E6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4E64"/>
                </a:solidFill>
                <a:latin typeface="Aptos"/>
                <a:ea typeface="Aptos"/>
                <a:cs typeface="Aptos"/>
              </a:rPr>
              <a:t>3D-Erweiterung und Landefläche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15703fc6374a80"/>
          <a:stretch xmlns:a="http://schemas.openxmlformats.org/drawingml/2006/main"/>
        </p:blipFill>
        <p:spPr>
          <a:xfrm xmlns:a="http://schemas.openxmlformats.org/drawingml/2006/main">
            <a:off x="552450" y="1209675"/>
            <a:ext cx="5429250" cy="3619500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22ab773ae4758"/>
          <a:stretch xmlns:a="http://schemas.openxmlformats.org/drawingml/2006/main"/>
        </p:blipFill>
        <p:spPr>
          <a:xfrm xmlns:a="http://schemas.openxmlformats.org/drawingml/2006/main">
            <a:off x="6554688" y="1162050"/>
            <a:ext cx="4330898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75FF9B-9479-4E51-9A54-8B6E75EF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6737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4E6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4E64"/>
                </a:solidFill>
                <a:latin typeface="Aptos"/>
                <a:ea typeface="Aptos"/>
                <a:cs typeface="Aptos"/>
              </a:rPr>
              <a:t>Zeit ist Parameter der Kurve. Die Landefläche liegt in z = 0; Start und Landepunkt sind ihr Zentrum.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98799-D986-4231-8E32-9E9E8B09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48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2748E"/>
                </a:solidFill>
                <a:latin typeface="Aptos"/>
                <a:ea typeface="Aptos"/>
                <a:cs typeface="Aptos"/>
              </a:rPr>
              <a:t>Ballonfahrt-Modell · Leonardo Freyhofer · 9</a:t>
            </a:r>
          </a:p>
        </p:txBody>
      </p:sp>
    </p:spTree>
    <p:extLst>
      <p:ext uri="{BB962C8B-B14F-4D97-AF65-F5344CB8AC3E}">
        <p14:creationId xmlns:p14="http://schemas.microsoft.com/office/powerpoint/2010/main" val="1066331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F70DD2-CBB6-49CC-A68B-F94F00CD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759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7595"/>
                </a:solidFill>
                <a:latin typeface="Aptos"/>
                <a:ea typeface="Aptos"/>
                <a:cs typeface="Aptos"/>
              </a:rPr>
              <a:t>ABSCHLUSS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F89ABC-FDF2-4FB8-9AD5-3E9253CD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4E6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4E64"/>
                </a:solidFill>
                <a:latin typeface="Aptos"/>
                <a:ea typeface="Aptos"/>
                <a:cs typeface="Aptos"/>
              </a:rPr>
              <a:t>Fazit und Medien-Backup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4E65B-958E-4E8A-813F-F0B0942D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811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59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59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DEF0D-BF12-4D51-AD8B-2311EF60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81125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2061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20618"/>
                </a:solidFill>
                <a:latin typeface="Aptos"/>
                <a:ea typeface="Aptos"/>
                <a:cs typeface="Aptos"/>
              </a:rPr>
              <a:t>Die Funktion erfüllt alle Aufgabenbedingungen.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EC6B2-6E84-4A81-B8FD-BC35A690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335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59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59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A84B32-20A7-43F4-93E3-FE441F3D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33575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2061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20618"/>
                </a:solidFill>
                <a:latin typeface="Aptos"/>
                <a:ea typeface="Aptos"/>
                <a:cs typeface="Aptos"/>
              </a:rPr>
              <a:t>Die Richtungswechsel und die Integralbedingung erklären die Form des Graphen.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D85D89-E6A7-4388-90D3-3D27ED94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860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59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59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26A8A-C24F-402E-BA0D-C34AE4F8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86025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2061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20618"/>
                </a:solidFill>
                <a:latin typeface="Aptos"/>
                <a:ea typeface="Aptos"/>
                <a:cs typeface="Aptos"/>
              </a:rPr>
              <a:t>Die glatte Variante wurde verworfen, weil die Landegeschwindigkeit zu hoch war.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12181C-29B2-4DB5-8AD8-D67F9FFF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384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59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59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586557-76E5-4404-AB1F-517DFBAA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38475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2061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20618"/>
                </a:solidFill>
                <a:latin typeface="Aptos"/>
                <a:ea typeface="Aptos"/>
                <a:cs typeface="Aptos"/>
              </a:rPr>
              <a:t>Die finale Variante landet horizontal am Startpunkt und hat v(7) ≈ 7,6 km/h.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4497B7-6F65-4705-BA4C-9D30936A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909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59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59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AC945C-F7E7-474D-9512-238DC284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90925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2061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20618"/>
                </a:solidFill>
                <a:latin typeface="Aptos"/>
                <a:ea typeface="Aptos"/>
                <a:cs typeface="Aptos"/>
              </a:rPr>
              <a:t>Interaktive HTMLs werden gezeigt; alle Aussagen sind zusätzlich als PNG-Folien abgesichert.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0C2F6A-4BF8-40AE-AD60-703439DC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19250"/>
            <a:ext cx="2571750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344CED-639F-4C1B-8013-15CF998D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47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4E6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4E64"/>
                </a:solidFill>
                <a:latin typeface="Aptos"/>
                <a:ea typeface="Aptos"/>
                <a:cs typeface="Aptos"/>
              </a:rPr>
              <a:t>HTML-Dateien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6FEFA6-1F4F-40E5-B225-64FD3096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24100"/>
            <a:ext cx="209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2061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20618"/>
                </a:solidFill>
                <a:latin typeface="Aptos"/>
                <a:ea typeface="Aptos"/>
                <a:cs typeface="Aptos"/>
              </a:rPr>
              <a:t>ballonfahrt_zeit_abstand_hoehe_interaktiv.html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02061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20618"/>
                </a:solidFill>
                <a:latin typeface="Aptos"/>
                <a:ea typeface="Aptos"/>
                <a:cs typeface="Aptos"/>
              </a:rPr>
              <a:t>ballonfahrt_3d_interaktiv.html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CD170F-DA9F-4EF8-A40E-FA4E8BEA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6235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171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17100"/>
                </a:solidFill>
                <a:latin typeface="Aptos"/>
                <a:ea typeface="Aptos"/>
                <a:cs typeface="Aptos"/>
              </a:rPr>
              <a:t>Backup: statische Grafiken in der PowerPoint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F10E24-EE49-4555-B060-103BEE19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48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2748E"/>
                </a:solidFill>
                <a:latin typeface="Aptos"/>
                <a:ea typeface="Aptos"/>
                <a:cs typeface="Aptos"/>
              </a:rPr>
              <a:t>Ballonfahrt-Modell · Leonardo Freyhofer · 10</a:t>
            </a:r>
          </a:p>
        </p:txBody>
      </p:sp>
    </p:spTree>
    <p:extLst>
      <p:ext uri="{BB962C8B-B14F-4D97-AF65-F5344CB8AC3E}">
        <p14:creationId xmlns:p14="http://schemas.microsoft.com/office/powerpoint/2010/main" val="619720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2026-06-15T19:30:12.0370000Z</dcterms:created>
  <dcterms:modified xsi:type="dcterms:W3CDTF">2026-06-15T19:30:12.0370000Z</dcterms:modified>
</coreProperties>
</file>